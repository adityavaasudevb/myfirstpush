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Montserrat"/>
      <ns0:bold ns1:id="rIdFont19"/>
    </ns0:embeddedFont>
    <ns0:embeddedFont>
      <ns0:font typeface="Open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24309bdc-c74a-4543-9fa5-18ed90cedc53.fntdata" /><ns0:Relationship Id="rIdFont20" Type="http://schemas.openxmlformats.org/officeDocument/2006/relationships/font" Target="fonts/ee22f181-1526-4ec5-817d-be06dc8b9191.fntdata" /><ns0:Relationship Id="rIdFont21" Type="http://schemas.openxmlformats.org/officeDocument/2006/relationships/font" Target="fonts/133b157b-fd38-4b3f-871b-f527beb74ab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58165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217640"/>
            <a:ext cx="685800" cy="38100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581650"/>
            <a:ext cx="10668000" cy="9525"/>
          </a:xfrm>
          <a:prstGeom prst="rect">
            <a:avLst/>
          </a:prstGeom>
          <a:solidFill>
            <a:srgbClr val="33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609600"/>
            <a:ext cx="57150" cy="228600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05900" y="633412"/>
            <a:ext cx="2905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E3082"/>
                </a:solidFill>
                <a:latin typeface="Open Sans"/>
              </a:rPr>
              <a:t>TECHNICAL CAPSTONE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164109"/>
            <a:ext cx="99012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Montserrat"/>
              </a:rPr>
              <a:t>TNC / Rideshare Insurance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55640"/>
            <a:ext cx="819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EAE5DF"/>
                </a:solidFill>
                <a:latin typeface="Open Sans"/>
              </a:rPr>
              <a:t>Specialty commercial auto insurance with tiered coverage derived from driver app status at the instant of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638175"/>
            <a:ext cx="5369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E5DF"/>
                </a:solidFill>
                <a:latin typeface="Montserrat"/>
              </a:rPr>
              <a:t>THE HARTFORD • COMMERCIAL FLEET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19775"/>
            <a:ext cx="1893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89F91"/>
                </a:solidFill>
                <a:latin typeface="Open Sans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19800"/>
            <a:ext cx="18930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Open Sans"/>
              </a:rPr>
              <a:t>Aditya Vaasudev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275" y="5819775"/>
            <a:ext cx="1881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89F91"/>
                </a:solidFill>
                <a:latin typeface="Open Sans"/>
              </a:rPr>
              <a:t>TRAINER &amp; EVALUATOR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6019800"/>
            <a:ext cx="1881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Open Sans"/>
              </a:rPr>
              <a:t>Ranjan Bhatnagar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3781" y="5819775"/>
            <a:ext cx="4036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900" i="0" u="none">
                <a:solidFill>
                  <a:srgbClr val="A89F91"/>
                </a:solidFill>
                <a:latin typeface="Open Sans"/>
              </a:rPr>
              <a:t>ARCHITECTURE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3781" y="6019800"/>
            <a:ext cx="4036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FFFFF"/>
                </a:solidFill>
                <a:latin typeface="Open Sans"/>
              </a:rPr>
              <a:t>.NET 8 • Angular 21 • Clean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49685"/>
            <a:ext cx="5362575" cy="2667000"/>
          </a:xfrm>
          <a:prstGeom prst="roundRect">
            <a:avLst>
              <a:gd name="adj" fmla="val 2857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00775" y="2354460"/>
            <a:ext cx="5381625" cy="2457450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773685"/>
            <a:ext cx="4752975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5100" y="3659385"/>
            <a:ext cx="4752975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773685"/>
            <a:ext cx="4752975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5100" y="3659385"/>
            <a:ext cx="4752975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353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687835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TNC Coverage Disputes &amp; Adjudication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Zero non-deterministic AI: 100% deterministic rules engine with strict audit trails.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66725"/>
            <a:ext cx="3131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PROBLEM STATEMENT &amp;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35485"/>
            <a:ext cx="48482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A1414"/>
                </a:solidFill>
                <a:latin typeface="Open Sans"/>
              </a:rPr>
              <a:t>Under statutes like Texas Insurance Code Ch. 1954, coverage varies by driver app state. State disputes at impact cause major claim friction.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049785"/>
            <a:ext cx="4848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A1414"/>
                </a:solidFill>
                <a:latin typeface="Open Sans"/>
              </a:rPr>
              <a:t>Deterministic automation replaces manual assertions through timestamped trip event derivation and straight-through binding.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2554485"/>
            <a:ext cx="308788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5013F"/>
                </a:solidFill>
                <a:latin typeface="Montserrat"/>
              </a:rPr>
              <a:t>The Industry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16560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Period 1: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App on, awaiting ride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73735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Period 2: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Match accepted, en route to pickup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0910"/>
            <a:ext cx="594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Period 3: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Passenger on board until drop-off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2668785"/>
            <a:ext cx="34879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414"/>
                </a:solidFill>
                <a:latin typeface="Montserrat"/>
              </a:rPr>
              <a:t>Our Architectural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80226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Deterministic Derivation: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Period matched against trip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4059435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Straight-Through Binding: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Standard pricing acts as underwriter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31661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Section 64UM Adherence:</a:t>
            </a:r>
            <a:r>
              <a:rPr b="0" sz="1050" i="0" u="none">
                <a:solidFill>
                  <a:srgbClr val="1A1414"/>
                </a:solidFill>
                <a:latin typeface="Open Sans"/>
              </a:rPr>
              <a:t> Surveyor field reviews where funds leave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7824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05300" y="217824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217824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140273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05300" y="3140273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3140273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10229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5300" y="410229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4102298"/>
            <a:ext cx="3581400" cy="885825"/>
          </a:xfrm>
          <a:prstGeom prst="roundRect">
            <a:avLst>
              <a:gd name="adj" fmla="val 6451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Verified Functional Scope (FR1 – FR9)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29350"/>
            <a:ext cx="5095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All functional capabilities verified across end-to-end platform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66725"/>
            <a:ext cx="2113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FUNCTIONAL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03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330648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FR1: Auth &amp;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54972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In-memory JWT + HttpOnly refresh cookie; Company/Surveyor/Admin.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2330648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FR2: Company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800" y="254972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Single profile with CIN validation; 403 on foreign profile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0" y="2330648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FR2A: Surveyor Vetting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254972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IRDAI licence capture; 403 lock until Admin approval granted.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292673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FR3: Quote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511748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Tier A/B quotes; live FX rates (USD/EUR); 7-day lazy expiration.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800" y="3292673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FR4: Policy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800" y="3511748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Straight-through binding; 365-day term; claims-ratio renewal bands.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3292673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FR5: Claims Adjudication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0" y="3511748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Derived period rules; 4-field survey reviews; mandatory override notes.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4254698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FR6: Simulated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447377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Deterministic premium activation and claim payout settlement.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5800" y="4254698"/>
            <a:ext cx="4200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FR7: 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5800" y="447377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5 KPIs: Policies, Claims, Payouts, Approval Ratio, Conversion Rate.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1500" y="4254698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Montserrat"/>
              </a:rPr>
              <a:t>FR8/9: Resilience &amp; Paging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0" y="4473773"/>
            <a:ext cx="3295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Polly FX retry; health probes; correlation IDs; server-side paging.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245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12457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878210"/>
          <a:ext cx="10972799" cy="34099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3992"/>
                <a:gridCol w="8558807"/>
              </a:tblGrid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Montserrat"/>
                        </a:rPr>
                        <a:t>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Montserrat"/>
                        </a:rPr>
                        <a:t>Technology &amp; Implementation 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2EF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Angular 21 (Standalone Components, Signals, Reactive Forms, RxJS)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Styling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Tailwind CSS 4 (The Hartford Brand Design Tokens declared via @theme)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ASP.NET Core 8 Web API (C# 12, Controller-based endpoints)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Microservices (Clean Architecture: Domain, Application, Infrastructure, API)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Gateway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YARP (Yet Another Reverse Proxy) on Port 5000 (Routing, CORS, Auth)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Authentication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JWT (In-memory Access Token) + HttpOnly Secure SameSite Cookie Refresh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7888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Database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SQLite (AuthService) + SQL Server Express LocalDB (Customer, Quote, Insurance)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888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75013F"/>
                          </a:solidFill>
                          <a:latin typeface="Open Sans"/>
                        </a:rPr>
                        <a:t>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A1414"/>
                          </a:solidFill>
                          <a:latin typeface="Open Sans"/>
                        </a:rPr>
                        <a:t>xUnit + Coverlet (80% Line/Branch Gate) &amp; Vitest with jsdom (Angular)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6762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Complete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67450"/>
            <a:ext cx="636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Zero message brokers or distributed transactions; clean, maintainable enterprise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2175" y="62674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28625"/>
            <a:ext cx="217289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CORE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700" y="4191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245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19500" y="1935360"/>
            <a:ext cx="4953000" cy="600075"/>
          </a:xfrm>
          <a:prstGeom prst="roundRect">
            <a:avLst>
              <a:gd name="adj" fmla="val 9523"/>
            </a:avLst>
          </a:prstGeom>
          <a:solidFill>
            <a:srgbClr val="1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21210"/>
            <a:ext cx="10972800" cy="628650"/>
          </a:xfrm>
          <a:prstGeom prst="roundRect">
            <a:avLst>
              <a:gd name="adj" fmla="val 9090"/>
            </a:avLst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12457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92785"/>
            <a:ext cx="2628900" cy="1038225"/>
          </a:xfrm>
          <a:prstGeom prst="roundRect">
            <a:avLst>
              <a:gd name="adj" fmla="val 5504"/>
            </a:avLst>
          </a:prstGeom>
          <a:solidFill>
            <a:srgbClr val="F5F2E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4192785"/>
            <a:ext cx="2628900" cy="1038225"/>
          </a:xfrm>
          <a:prstGeom prst="roundRect">
            <a:avLst>
              <a:gd name="adj" fmla="val 5504"/>
            </a:avLst>
          </a:prstGeom>
          <a:solidFill>
            <a:srgbClr val="F5F2E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4192785"/>
            <a:ext cx="2628900" cy="1038225"/>
          </a:xfrm>
          <a:prstGeom prst="roundRect">
            <a:avLst>
              <a:gd name="adj" fmla="val 5504"/>
            </a:avLst>
          </a:prstGeom>
          <a:solidFill>
            <a:srgbClr val="F5F2E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4192785"/>
            <a:ext cx="2628900" cy="1038225"/>
          </a:xfrm>
          <a:prstGeom prst="roundRect">
            <a:avLst>
              <a:gd name="adj" fmla="val 5504"/>
            </a:avLst>
          </a:prstGeom>
          <a:solidFill>
            <a:srgbClr val="F5F2E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2630685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3792735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3792735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62" y="3792735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562" y="3792735"/>
            <a:ext cx="104775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6762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Microservices Topology &amp; Data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67450"/>
            <a:ext cx="6250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Database-per-service pattern: Cross-service data references are logical; no cross-DB joins.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2175" y="62674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28625"/>
            <a:ext cx="17323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SYSTEM 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4700" y="4191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05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3750" y="2049660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Open Sans"/>
              </a:rPr>
              <a:t>Angular 21 Client SPA (:4200)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3750" y="2259210"/>
            <a:ext cx="5524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EAE5DF"/>
                </a:solidFill>
                <a:latin typeface="Open Sans"/>
              </a:rPr>
              <a:t>Dev Proxy • Reactive Forms • Signals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3487" y="2783085"/>
            <a:ext cx="2631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5013F"/>
                </a:solidFill>
                <a:latin typeface="Open Sans"/>
              </a:rPr>
              <a:t>HTTP Requests (/api/**) with Bearer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190500" y="3135510"/>
            <a:ext cx="125730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Open Sans"/>
              </a:rPr>
              <a:t>YARP API Gateway (:5000)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90500" y="3373635"/>
            <a:ext cx="12573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5F2EF"/>
                </a:solidFill>
                <a:latin typeface="Open Sans"/>
              </a:rPr>
              <a:t>Reverse Proxy Routing • CORS • JWT Verification • X-Correlation-ID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987" y="3954660"/>
            <a:ext cx="3286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75013F"/>
                </a:solidFill>
                <a:latin typeface="Open Sans"/>
              </a:rPr>
              <a:t>/api/auth/**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2287" y="3954660"/>
            <a:ext cx="3286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75013F"/>
                </a:solidFill>
                <a:latin typeface="Open Sans"/>
              </a:rPr>
              <a:t>/api/companies/**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587" y="3954660"/>
            <a:ext cx="3286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75013F"/>
                </a:solidFill>
                <a:latin typeface="Open Sans"/>
              </a:rPr>
              <a:t>/api/quotes/**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4887" y="3954660"/>
            <a:ext cx="3286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75013F"/>
                </a:solidFill>
                <a:latin typeface="Open Sans"/>
              </a:rPr>
              <a:t>/api/policies/** &amp; /api/claims/**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4335660"/>
            <a:ext cx="2928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Open Sans"/>
              </a:rPr>
              <a:t>AuthService (:5001)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4526160"/>
            <a:ext cx="2928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66666"/>
                </a:solidFill>
                <a:latin typeface="Open Sans"/>
              </a:rPr>
              <a:t>Database: 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4745235"/>
            <a:ext cx="2438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Users, SurveyorProfiles, JWT tokens, Approval gates.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3775" y="4335660"/>
            <a:ext cx="2928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Open Sans"/>
              </a:rPr>
              <a:t>CustomerService (:5002)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3775" y="4526160"/>
            <a:ext cx="2928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66666"/>
                </a:solidFill>
                <a:latin typeface="Open Sans"/>
              </a:rPr>
              <a:t>Database: SQL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3775" y="4745235"/>
            <a:ext cx="2438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CompanyProfiles (CIN, fleet size, contact data).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5075" y="4335660"/>
            <a:ext cx="2928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Open Sans"/>
              </a:rPr>
              <a:t>QuoteService (:5003)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075" y="4526160"/>
            <a:ext cx="2928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66666"/>
                </a:solidFill>
                <a:latin typeface="Open Sans"/>
              </a:rPr>
              <a:t>Database: SQL Server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075" y="4745235"/>
            <a:ext cx="2438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Tier estimates, FX integration (Polly retries &amp; fallback).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6375" y="4335660"/>
            <a:ext cx="2928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5013F"/>
                </a:solidFill>
                <a:latin typeface="Open Sans"/>
              </a:rPr>
              <a:t>InsuranceService (:5004)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6375" y="4526160"/>
            <a:ext cx="2928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Open Sans"/>
              </a:rPr>
              <a:t>Policy API &amp; Claims API • SQL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6375" y="4745235"/>
            <a:ext cx="2438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Policies, Claims, TripEvents, FieldVerifications,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05450" y="1897260"/>
            <a:ext cx="6076950" cy="3371850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082998"/>
            <a:ext cx="4667250" cy="923925"/>
          </a:xfrm>
          <a:prstGeom prst="roundRect">
            <a:avLst>
              <a:gd name="adj" fmla="val 6185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121223"/>
            <a:ext cx="4667250" cy="923925"/>
          </a:xfrm>
          <a:prstGeom prst="roundRect">
            <a:avLst>
              <a:gd name="adj" fmla="val 6185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59448"/>
            <a:ext cx="4667250" cy="923925"/>
          </a:xfrm>
          <a:prstGeom prst="roundRect">
            <a:avLst>
              <a:gd name="adj" fmla="val 6185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43575" y="2421135"/>
            <a:ext cx="5600700" cy="581025"/>
          </a:xfrm>
          <a:prstGeom prst="roundRect">
            <a:avLst>
              <a:gd name="adj" fmla="val 9836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43575" y="3097410"/>
            <a:ext cx="5600700" cy="581025"/>
          </a:xfrm>
          <a:prstGeom prst="roundRect">
            <a:avLst>
              <a:gd name="adj" fmla="val 9836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43575" y="3773685"/>
            <a:ext cx="5600700" cy="581025"/>
          </a:xfrm>
          <a:prstGeom prst="roundRect">
            <a:avLst>
              <a:gd name="adj" fmla="val 9836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43575" y="4449960"/>
            <a:ext cx="5600700" cy="581025"/>
          </a:xfrm>
          <a:prstGeom prst="roundRect">
            <a:avLst>
              <a:gd name="adj" fmla="val 9836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082998"/>
            <a:ext cx="38100" cy="923925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121223"/>
            <a:ext cx="38100" cy="923925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159448"/>
            <a:ext cx="38100" cy="923925"/>
          </a:xfrm>
          <a:prstGeom prst="rect">
            <a:avLst/>
          </a:prstGeom>
          <a:solidFill>
            <a:srgbClr val="FE3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Request Pipeline &amp; Clean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29350"/>
            <a:ext cx="6072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Domain layers contain zero framework or database dependencies (pure C# functions).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66725"/>
            <a:ext cx="232767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ARCHITECTURE LAYERING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06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3575" y="2135385"/>
            <a:ext cx="6448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Montserrat"/>
              </a:rPr>
              <a:t>ASP.NET CORE 8 • 4-PROJECT CLEAN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2254448"/>
            <a:ext cx="562570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1. Angular 21 Client SPA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2473523"/>
            <a:ext cx="4381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55555"/>
                </a:solidFill>
                <a:latin typeface="Open Sans"/>
              </a:rPr>
              <a:t>Functional interceptor attaches Bearer token, coalesces 401 refresh, injects correlation 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3292673"/>
            <a:ext cx="562570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2. YARP API Gateway (:5000)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3511748"/>
            <a:ext cx="4381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55555"/>
                </a:solidFill>
                <a:latin typeface="Open Sans"/>
              </a:rPr>
              <a:t>Validates JWT signature, echoes X-Correlation-ID, routes unchanged paths to target services.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4330898"/>
            <a:ext cx="562570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3. BuildingBlocks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4549973"/>
            <a:ext cx="4381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555555"/>
                </a:solidFill>
                <a:latin typeface="Open Sans"/>
              </a:rPr>
              <a:t>Shared error middleware, typed HTTP forwarders, pagination helpers, token extensions.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5975" y="2535435"/>
            <a:ext cx="6296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5013F"/>
                </a:solidFill>
                <a:latin typeface="Open Sans"/>
              </a:rPr>
              <a:t>API Layer (.API)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5975" y="2716410"/>
            <a:ext cx="6296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Controllers, routing definitions, model validation, Swagger docs.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5975" y="3211710"/>
            <a:ext cx="6296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5013F"/>
                </a:solidFill>
                <a:latin typeface="Open Sans"/>
              </a:rPr>
              <a:t>Application Layer (.Application)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5975" y="3392685"/>
            <a:ext cx="6296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Commands, queries, DTOs, cross-service typed clients, domain exceptions.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5975" y="3887985"/>
            <a:ext cx="6296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5013F"/>
                </a:solidFill>
                <a:latin typeface="Open Sans"/>
              </a:rPr>
              <a:t>Domain Layer (.Domain)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5975" y="4068960"/>
            <a:ext cx="6296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Pure business logic: premium formulas, rules engine, period derivation.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5975" y="4564260"/>
            <a:ext cx="6296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5013F"/>
                </a:solidFill>
                <a:latin typeface="Open Sans"/>
              </a:rPr>
              <a:t>Infrastructure Layer (.Infrastructure)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5975" y="4745235"/>
            <a:ext cx="6296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EF Core DbContexts, database migrations, Polly resilience handlers.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31702"/>
            <a:ext cx="10972800" cy="895350"/>
          </a:xfrm>
          <a:prstGeom prst="roundRect">
            <a:avLst>
              <a:gd name="adj" fmla="val 8510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17552"/>
            <a:ext cx="3555950" cy="1217116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3517552"/>
            <a:ext cx="3555950" cy="1217116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3517552"/>
            <a:ext cx="3555950" cy="1217116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726" y="280317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048" y="2803177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924" y="280317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731865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3731865"/>
            <a:ext cx="1905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6325" y="3731865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JWT Authentication &amp;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29350"/>
            <a:ext cx="678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Tokens never stored in localStorage: Memory access token (15m) + HttpOnly refresh cookie (7d).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6725"/>
            <a:ext cx="194667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IDENTITY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07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134" y="2622202"/>
            <a:ext cx="2940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75013F"/>
                </a:solidFill>
                <a:latin typeface="Open Sans"/>
              </a:rPr>
              <a:t>STEP 1: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34" y="2784127"/>
            <a:ext cx="294065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A1414"/>
                </a:solidFill>
                <a:latin typeface="Open Sans"/>
              </a:rPr>
              <a:t>POST /api/auth/login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134" y="2974627"/>
            <a:ext cx="2940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555555"/>
                </a:solidFill>
                <a:latin typeface="Open Sans"/>
              </a:rPr>
              <a:t>Credentials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204" y="2622202"/>
            <a:ext cx="35287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75013F"/>
                </a:solidFill>
                <a:latin typeface="Open Sans"/>
              </a:rPr>
              <a:t>STEP 2: DUAL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204" y="2784127"/>
            <a:ext cx="35287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A1414"/>
                </a:solidFill>
                <a:latin typeface="Open Sans"/>
              </a:rPr>
              <a:t>Token &amp; Cookie Minting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204" y="2974627"/>
            <a:ext cx="35287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555555"/>
                </a:solidFill>
                <a:latin typeface="Open Sans"/>
              </a:rPr>
              <a:t>Memory JWT + HttpOnly Cookie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6332" y="2622202"/>
            <a:ext cx="2940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75013F"/>
                </a:solidFill>
                <a:latin typeface="Open Sans"/>
              </a:rPr>
              <a:t>STEP 3: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6332" y="2784127"/>
            <a:ext cx="294065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A1414"/>
                </a:solidFill>
                <a:latin typeface="Open Sans"/>
              </a:rPr>
              <a:t>YARP Ingress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6332" y="2974627"/>
            <a:ext cx="294065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555555"/>
                </a:solidFill>
                <a:latin typeface="Open Sans"/>
              </a:rPr>
              <a:t>Signature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814" y="2622202"/>
            <a:ext cx="323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75013F"/>
                </a:solidFill>
                <a:latin typeface="Open Sans"/>
              </a:rPr>
              <a:t>STEP 4: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2814" y="2784127"/>
            <a:ext cx="323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A1414"/>
                </a:solidFill>
                <a:latin typeface="Open Sans"/>
              </a:rPr>
              <a:t>Role Enforcement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2814" y="2974627"/>
            <a:ext cx="3234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555555"/>
                </a:solidFill>
                <a:latin typeface="Open Sans"/>
              </a:rPr>
              <a:t>[Authorize(Roles = "...")]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974752"/>
            <a:ext cx="3251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A1414"/>
                </a:solidFill>
                <a:latin typeface="Open Sans"/>
              </a:rPr>
              <a:t>Public self-registration. Can apply for policies, view quotes, file claims, and renew. HTTP 403 on foreign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975" y="3974752"/>
            <a:ext cx="3251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A1414"/>
                </a:solidFill>
                <a:latin typeface="Open Sans"/>
              </a:rPr>
              <a:t>Captures IRDAI licence; locked to Pending. 403 SURVEYOR_PENDING_APPROVAL on login until Admin approved.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6325" y="3974752"/>
            <a:ext cx="3251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A1414"/>
                </a:solidFill>
                <a:latin typeface="Open Sans"/>
              </a:rPr>
              <a:t>Configuration-seeded. Approves surveyors, accesses aggregated dashboard metrics, and adjudicates claims.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125" y="3717577"/>
            <a:ext cx="153769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5013F"/>
                </a:solidFill>
                <a:latin typeface="Montserrat"/>
              </a:rPr>
              <a:t>Company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4675" y="3717577"/>
            <a:ext cx="147018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5013F"/>
                </a:solidFill>
                <a:latin typeface="Montserrat"/>
              </a:rPr>
              <a:t>Surveyor 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3025" y="3717577"/>
            <a:ext cx="12801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5013F"/>
                </a:solidFill>
                <a:latin typeface="Montserrat"/>
              </a:rPr>
              <a:t>Admin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4448"/>
            <a:ext cx="4396680" cy="2657475"/>
          </a:xfrm>
          <a:prstGeom prst="roundRect">
            <a:avLst>
              <a:gd name="adj" fmla="val 2867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96780" y="2085975"/>
            <a:ext cx="6385619" cy="2994421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3092648"/>
            <a:ext cx="393948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3807023"/>
            <a:ext cx="393948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34905" y="3771900"/>
            <a:ext cx="5909369" cy="794146"/>
          </a:xfrm>
          <a:prstGeom prst="roundRect">
            <a:avLst>
              <a:gd name="adj" fmla="val 7196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34905" y="2933700"/>
            <a:ext cx="2897534" cy="723900"/>
          </a:xfrm>
          <a:prstGeom prst="roundRect">
            <a:avLst>
              <a:gd name="adj" fmla="val 7894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46740" y="2933700"/>
            <a:ext cx="2897534" cy="723900"/>
          </a:xfrm>
          <a:prstGeom prst="roundRect">
            <a:avLst>
              <a:gd name="adj" fmla="val 7894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1623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05" y="2352675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Polyglot Persistence &amp; Entity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229350"/>
            <a:ext cx="7358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Zero cross-database foreign keys: CompanyId and QuoteId are resolved logically at the application 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66725"/>
            <a:ext cx="1988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PERSISTENCE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08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806898"/>
            <a:ext cx="4924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66666"/>
                </a:solidFill>
                <a:latin typeface="Open Sans"/>
              </a:rPr>
              <a:t>Lightweight relational store for identity and surveyor states.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521398"/>
            <a:ext cx="49243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Open Sans"/>
              </a:rPr>
              <a:t>Standardized UTC DateTime for SQLite 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4905" y="2647950"/>
            <a:ext cx="675709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66666"/>
                </a:solidFill>
                <a:latin typeface="Open Sans"/>
              </a:rPr>
              <a:t>High-integrity relational databases for Customer, Quote, and Insurance.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4905" y="4680346"/>
            <a:ext cx="675709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555555"/>
                </a:solidFill>
                <a:latin typeface="Open Sans"/>
              </a:rPr>
              <a:t>Standardized UTC DateTimeOffset for all SQL Server temporal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483048"/>
            <a:ext cx="272534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5013F"/>
                </a:solidFill>
                <a:latin typeface="Montserrat"/>
              </a:rPr>
              <a:t>Auth Database (SQLite)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3216473"/>
            <a:ext cx="46147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User 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3397448"/>
            <a:ext cx="46147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55555"/>
                </a:solidFill>
                <a:latin typeface="Open Sans"/>
              </a:rPr>
              <a:t>Id, Email, PasswordHash, RefreshToken,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3930848"/>
            <a:ext cx="461478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414"/>
                </a:solidFill>
                <a:latin typeface="Open Sans"/>
              </a:rPr>
              <a:t>SurveyorProfile 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025" y="4111823"/>
            <a:ext cx="461478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555555"/>
                </a:solidFill>
                <a:latin typeface="Open Sans"/>
              </a:rPr>
              <a:t>Id, UserId (UQ), IrdaiLicenseNo, ValidUntil,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3505" y="2324100"/>
            <a:ext cx="501312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414"/>
                </a:solidFill>
                <a:latin typeface="Montserrat"/>
              </a:rPr>
              <a:t>Core Business Stores (SQL Server LocalDB)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8255" y="3905250"/>
            <a:ext cx="66237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5013F"/>
                </a:solidFill>
                <a:latin typeface="Open Sans"/>
              </a:rPr>
              <a:t>InsuranceService Data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8255" y="4086225"/>
            <a:ext cx="5737919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A1414"/>
                </a:solidFill>
                <a:latin typeface="Open Sans"/>
              </a:rPr>
              <a:t>Policy (Term, Premium, RenewedFromId) • Claim (IncidentTime, DerivedPeriod, Decision) • TripEvent • FieldVerification • SurveyorReport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9205" y="3048000"/>
            <a:ext cx="33361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CustomerService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9205" y="3219450"/>
            <a:ext cx="33361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A1414"/>
                </a:solidFill>
                <a:latin typeface="Open Sans"/>
              </a:rPr>
              <a:t>CompanyProfile (CIN, Contact, FleetSize, UserId)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1040" y="3048000"/>
            <a:ext cx="33361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QuoteService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1040" y="3219450"/>
            <a:ext cx="276418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A1414"/>
                </a:solidFill>
                <a:latin typeface="Open Sans"/>
              </a:rPr>
              <a:t>Quote (Estimates, Tier, AddOns, Status, ExpiryDate)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57475"/>
            <a:ext cx="2628900" cy="1851421"/>
          </a:xfrm>
          <a:prstGeom prst="roundRect">
            <a:avLst>
              <a:gd name="adj" fmla="val 4115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662237"/>
            <a:ext cx="2628900" cy="1841896"/>
          </a:xfrm>
          <a:prstGeom prst="roundRect">
            <a:avLst>
              <a:gd name="adj" fmla="val 4137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657475"/>
            <a:ext cx="2628900" cy="1851421"/>
          </a:xfrm>
          <a:prstGeom prst="roundRect">
            <a:avLst>
              <a:gd name="adj" fmla="val 4115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2662237"/>
            <a:ext cx="2628900" cy="1841896"/>
          </a:xfrm>
          <a:prstGeom prst="roundRect">
            <a:avLst>
              <a:gd name="adj" fmla="val 4137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6075"/>
            <a:ext cx="21717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2890837"/>
            <a:ext cx="21717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886075"/>
            <a:ext cx="21717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2890837"/>
            <a:ext cx="21717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System Reliability &amp; Fault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29350"/>
            <a:ext cx="7155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Zero unhandled 500 dumps: Internal stack traces are logged securely and never exposed to the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66725"/>
            <a:ext cx="250626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RESILIENCE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09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28975"/>
            <a:ext cx="28503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Health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24250"/>
            <a:ext cx="2266950" cy="756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555555"/>
                </a:solidFill>
                <a:latin typeface="Open Sans"/>
              </a:rPr>
              <a:t>Standardized </a:t>
            </a:r>
            <a:r>
              <a:rPr b="0" sz="1050" i="0" u="none">
                <a:solidFill>
                  <a:srgbClr val="555555"/>
                </a:solidFill>
                <a:latin typeface="Open Sans"/>
              </a:rPr>
              <a:t>/health</a:t>
            </a:r>
            <a:r>
              <a:rPr b="0" sz="1050" i="0" u="none">
                <a:solidFill>
                  <a:srgbClr val="555555"/>
                </a:solidFill>
                <a:latin typeface="Open Sans"/>
              </a:rPr>
              <a:t> endpoints exposed on YARP and all 4 microservices for liveness monitoring.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233737"/>
            <a:ext cx="28503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Polly FX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529012"/>
            <a:ext cx="226695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555555"/>
                </a:solidFill>
                <a:latin typeface="Open Sans"/>
              </a:rPr>
              <a:t>3 retries with exponential backoff on live FX API (open.er-api.com). Exhaustion falls back to cached rate.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28975"/>
            <a:ext cx="28503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Distributed Tracing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4250"/>
            <a:ext cx="2266950" cy="756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555555"/>
                </a:solidFill>
                <a:latin typeface="Open Sans"/>
              </a:rPr>
              <a:t>X-Correlation-ID</a:t>
            </a:r>
            <a:r>
              <a:rPr b="0" sz="1050" i="0" u="none">
                <a:solidFill>
                  <a:srgbClr val="555555"/>
                </a:solidFill>
                <a:latin typeface="Open Sans"/>
              </a:rPr>
              <a:t> header injected at Gateway and forwarded on all service calls via DelegatingHandler.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233737"/>
            <a:ext cx="28503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414"/>
                </a:solidFill>
                <a:latin typeface="Montserrat"/>
              </a:rPr>
              <a:t>Centralized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100" y="3529012"/>
            <a:ext cx="226695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555555"/>
                </a:solidFill>
                <a:latin typeface="Open Sans"/>
              </a:rPr>
              <a:t>Middleware maps domain exceptions (e.g., 404, 409, 410) deterministically to RFC-compliant JSON envelopes.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97310"/>
            <a:ext cx="5992415" cy="2571750"/>
          </a:xfrm>
          <a:prstGeom prst="roundRect">
            <a:avLst>
              <a:gd name="adj" fmla="val 2962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30615" y="2502098"/>
            <a:ext cx="4751784" cy="2162175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9525">
            <a:solidFill>
              <a:srgbClr val="EA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8440" y="2564010"/>
            <a:ext cx="1666875" cy="247650"/>
          </a:xfrm>
          <a:prstGeom prst="roundRect">
            <a:avLst>
              <a:gd name="adj" fmla="val 15384"/>
            </a:avLst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10825" y="2778323"/>
            <a:ext cx="895350" cy="247650"/>
          </a:xfrm>
          <a:prstGeom prst="roundRect">
            <a:avLst>
              <a:gd name="adj" fmla="val 15384"/>
            </a:avLst>
          </a:prstGeom>
          <a:solidFill>
            <a:srgbClr val="F5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Testing Strategy &amp; 80% Coverage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229350"/>
            <a:ext cx="673279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Executed via: </a:t>
            </a:r>
            <a:r>
              <a:rPr b="0" sz="975" i="0" u="none">
                <a:solidFill>
                  <a:srgbClr val="777777"/>
                </a:solidFill>
                <a:latin typeface="Open Sans"/>
              </a:rPr>
              <a:t>dotnet test /p:CollectCoverage=true /p:Threshold=80</a:t>
            </a:r>
            <a:r>
              <a:rPr b="0" sz="975" i="0" u="none">
                <a:solidFill>
                  <a:srgbClr val="777777"/>
                </a:solidFill>
                <a:latin typeface="Open Sans"/>
              </a:rPr>
              <a:t> and </a:t>
            </a:r>
            <a:r>
              <a:rPr b="0" sz="975" i="0" u="none">
                <a:solidFill>
                  <a:srgbClr val="777777"/>
                </a:solidFill>
                <a:latin typeface="Open Sans"/>
              </a:rPr>
              <a:t>ng test</a:t>
            </a:r>
            <a:r>
              <a:rPr b="0" sz="975" i="0" u="none">
                <a:solidFill>
                  <a:srgbClr val="777777"/>
                </a:solidFill>
                <a:latin typeface="Open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6725"/>
            <a:ext cx="192285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QUALITY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10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945010"/>
            <a:ext cx="555426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Targeted strictly to Application and Domain layers across all 4 services via table-driven theories: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6840" y="3159323"/>
            <a:ext cx="508515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A1414"/>
                </a:solidFill>
                <a:latin typeface="Open Sans"/>
              </a:rPr>
              <a:t>Angular 21 CLI native integration testing core infrastructure: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583060"/>
            <a:ext cx="303787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5013F"/>
                </a:solidFill>
                <a:latin typeface="Montserrat"/>
              </a:rPr>
              <a:t>Backend: xUnit + Coverlet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3690" y="2602110"/>
            <a:ext cx="1571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Open Sans"/>
              </a:rPr>
              <a:t>80% Line &amp; Branch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440310"/>
            <a:ext cx="68237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Premium Formulas: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Fleet size × Base × Tier Multipliers + Add-ons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687960"/>
            <a:ext cx="68237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Rules Engine Matrix: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Tier × Derived Period × Claim Type × Add-ons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935610"/>
            <a:ext cx="68237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Renewal Boundaries: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Tested at 29%, 30%, 70%, and 100% loss ratios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183260"/>
            <a:ext cx="68237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Polly FX Retry: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Mocked handler fails twice → succeeds on 3rd; fallback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430910"/>
            <a:ext cx="68237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Atomic Claim Pickup: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Race-condition test against SQLite confirms single-winner 409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6840" y="2797373"/>
            <a:ext cx="19002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414"/>
                </a:solidFill>
                <a:latin typeface="Montserrat"/>
              </a:rPr>
              <a:t>Frontend: Vitest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6075" y="2816423"/>
            <a:ext cx="80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jsdom 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6840" y="3473648"/>
            <a:ext cx="508515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Route Guards: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roleGuard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, 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guestGuard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, profile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6840" y="3721298"/>
            <a:ext cx="508515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HTTP Interceptor: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Coalesced 401 refresh &amp; Bearer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840" y="3968948"/>
            <a:ext cx="508515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Reactive Forms: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Chronological trip log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6840" y="4216598"/>
            <a:ext cx="508515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A1414"/>
                </a:solidFill>
                <a:latin typeface="Open Sans"/>
              </a:rPr>
              <a:t>• </a:t>
            </a:r>
            <a:r>
              <a:rPr b="1" sz="975" i="0" u="none">
                <a:solidFill>
                  <a:srgbClr val="1A1414"/>
                </a:solidFill>
                <a:latin typeface="Open Sans"/>
              </a:rPr>
              <a:t>Session Services:</a:t>
            </a:r>
            <a:r>
              <a:rPr b="0" sz="975" i="0" u="none">
                <a:solidFill>
                  <a:srgbClr val="1A1414"/>
                </a:solidFill>
                <a:latin typeface="Open Sans"/>
              </a:rPr>
              <a:t> Initializer silent refresh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292548"/>
          <a:ext cx="10972798" cy="2581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97160"/>
                <a:gridCol w="3291780"/>
                <a:gridCol w="6583858"/>
              </a:tblGrid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75013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75013F"/>
                          </a:solidFill>
                          <a:latin typeface="Montserrat"/>
                        </a:rPr>
                        <a:t>Deferred 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75013F"/>
                          </a:solidFill>
                          <a:latin typeface="Montserrat"/>
                        </a:rPr>
                        <a:t>Architectural Rationale &amp; Current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2EF"/>
                    </a:solidFill>
                  </a:tcPr>
                </a:tc>
              </a:tr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Standalone PaymentService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Trainer-directed simplification; simulated deterministically in InsuranceService.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Cloudinary / S3 File Uploads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Environment network constraint; streamlined to structured document repository link.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Claims Resubmission Loop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Replaced by immutable single-submission model; per-field audits preserved accurately.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Underwritten Policy Binding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Standardized product enables straight-through binding; &gt;100% renewal loss surfaces as alert.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368753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Password Reset 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Deferred in favor of core JWT security, rotation cookies, and surveyor approval gates.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75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75013F"/>
                          </a:solidFill>
                          <a:latin typeface="Open Sans"/>
                        </a:rPr>
                        <a:t>D4/D7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A1414"/>
                          </a:solidFill>
                          <a:latin typeface="Open Sans"/>
                        </a:rPr>
                        <a:t>Advanced Multi-Field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555555"/>
                          </a:solidFill>
                          <a:latin typeface="Open Sans"/>
                        </a:rPr>
                        <a:t>Single-field server-side sorting implemented; multi-field cross-service sorting deferred.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1A1414"/>
                </a:solidFill>
                <a:latin typeface="Montserrat"/>
              </a:rPr>
              <a:t>Architectural Scope Decisions &amp;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229350"/>
            <a:ext cx="5310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77777"/>
                </a:solidFill>
                <a:latin typeface="Open Sans"/>
              </a:rPr>
              <a:t>Deliberate architectural decisions — prioritized for core business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2175" y="62293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5013F"/>
                </a:solidFill>
                <a:latin typeface="Open Sans"/>
              </a:rPr>
              <a:t>The Hartford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6725"/>
            <a:ext cx="1940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5013F"/>
                </a:solidFill>
                <a:latin typeface="Montserrat"/>
              </a:rPr>
              <a:t>SCOPE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700" y="457200"/>
            <a:ext cx="933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777777"/>
                </a:solidFill>
                <a:latin typeface="Open Sans"/>
              </a:rP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581650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0" y="3379440"/>
            <a:ext cx="533400" cy="38100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581650"/>
            <a:ext cx="10668000" cy="9525"/>
          </a:xfrm>
          <a:prstGeom prst="rect">
            <a:avLst/>
          </a:prstGeom>
          <a:solidFill>
            <a:srgbClr val="33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609600"/>
            <a:ext cx="57150" cy="228600"/>
          </a:xfrm>
          <a:prstGeom prst="rect">
            <a:avLst/>
          </a:prstGeom>
          <a:solidFill>
            <a:srgbClr val="750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15675" y="633412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E3082"/>
                </a:solidFill>
                <a:latin typeface="Open Sans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5718" y="2518469"/>
            <a:ext cx="4500562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7937" y="3608040"/>
            <a:ext cx="709612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EAE5DF"/>
                </a:solidFill>
                <a:latin typeface="Open Sans"/>
              </a:rPr>
              <a:t>Open for Questions, Technical Discussion &amp; Code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638175"/>
            <a:ext cx="5393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AE5DF"/>
                </a:solidFill>
                <a:latin typeface="Montserrat"/>
              </a:rPr>
              <a:t>THE HARTFORD • TECHNICAL CAPSTONE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19775"/>
            <a:ext cx="1893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89F91"/>
                </a:solidFill>
                <a:latin typeface="Open Sans"/>
              </a:rP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19800"/>
            <a:ext cx="18930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Open Sans"/>
              </a:rPr>
              <a:t>Aditya Vaasudev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8812" y="5819775"/>
            <a:ext cx="1881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900" i="0" u="none">
                <a:solidFill>
                  <a:srgbClr val="A89F91"/>
                </a:solidFill>
                <a:latin typeface="Open Sans"/>
              </a:rPr>
              <a:t>TRAINER &amp; EVALUATOR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8812" y="6019800"/>
            <a:ext cx="1881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FFFFFF"/>
                </a:solidFill>
                <a:latin typeface="Open Sans"/>
              </a:rPr>
              <a:t>Ranjan Bhatnagar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